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54F7C">
              <a:alpha val="35000"/>
            </a:srgbClr>
          </a:solidFill>
          <a:ln w="12700">
            <a:solidFill>
              <a:srgbClr val="154F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E7DBB">
              <a:alpha val="28000"/>
            </a:srgbClr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34440"/>
            <a:ext cx="118872" cy="2560320"/>
          </a:xfrm>
          <a:prstGeom prst="rect">
            <a:avLst/>
          </a:prstGeom>
          <a:solidFill>
            <a:srgbClr val="F4A800"/>
          </a:solidFill>
          <a:ln w="12700">
            <a:solidFill>
              <a:srgbClr val="F4A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NehézGép Bérlés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Webalkalmazás — Projekt bemutató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3474720" cy="0"/>
          </a:xfrm>
          <a:prstGeom prst="line">
            <a:avLst/>
          </a:prstGeom>
          <a:noFill/>
          <a:ln w="19050">
            <a:solidFill>
              <a:srgbClr val="F4A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889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Node.js  ·  SQLite  ·  JWT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 ·  Békés vármegye  ·  2025 /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60F1D"/>
          </a:solidFill>
          <a:ln w="12700">
            <a:solidFill>
              <a:srgbClr val="060F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79145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Záródolgozat / Vizsgaprojekt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8016"/>
            <a:ext cx="1920240" cy="292608"/>
          </a:xfrm>
          <a:prstGeom prst="rect">
            <a:avLst/>
          </a:prstGeom>
          <a:solidFill>
            <a:srgbClr val="F4A800"/>
          </a:solidFill>
          <a:ln w="12700">
            <a:solidFill>
              <a:srgbClr val="F4A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TARTALOM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prezentáció felépítése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8412480" cy="0"/>
          </a:xfrm>
          <a:prstGeom prst="line">
            <a:avLst/>
          </a:prstGeom>
          <a:noFill/>
          <a:ln w="15240">
            <a:solidFill>
              <a:srgbClr val="F4A8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44752"/>
            <a:ext cx="41605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44752"/>
            <a:ext cx="64008" cy="987552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5361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8992" y="1499616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Bevezetés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192024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Célkitűzés, célcsoport, motiváció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41605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60320"/>
            <a:ext cx="64008" cy="987552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651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78992" y="2615184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Technológiai stack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8992" y="303580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Backend · Adatbázis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675888"/>
            <a:ext cx="41605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75888"/>
            <a:ext cx="64008" cy="987552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767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78992" y="3730752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Adatszerkezet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78992" y="415137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táblák és kapcsolatok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444752"/>
            <a:ext cx="41605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444752"/>
            <a:ext cx="64008" cy="987552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15361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68112" y="1499616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Főbb algoritmusok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68112" y="192024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bérlési logika, naptár, képfeltöltés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560320"/>
            <a:ext cx="41605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560320"/>
            <a:ext cx="64008" cy="987552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2651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468112" y="2615184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Tesztelés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68112" y="303580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Környezetek, hibatestek, hozzáférés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675888"/>
            <a:ext cx="41605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675888"/>
            <a:ext cx="64008" cy="987552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3767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468112" y="3730752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Fejlesztési lehetőségek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68112" y="415137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Jövőbeli irányok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8016"/>
            <a:ext cx="1920240" cy="292608"/>
          </a:xfrm>
          <a:prstGeom prst="rect">
            <a:avLst/>
          </a:prstGeom>
          <a:solidFill>
            <a:srgbClr val="F4A800"/>
          </a:solidFill>
          <a:ln w="12700">
            <a:solidFill>
              <a:srgbClr val="F4A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BEVEZETÉS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a NehézGép Bérlés?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8412480" cy="0"/>
          </a:xfrm>
          <a:prstGeom prst="line">
            <a:avLst/>
          </a:prstGeom>
          <a:noFill/>
          <a:ln w="15240">
            <a:solidFill>
              <a:srgbClr val="F4A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projekt célja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Webalapú nehézgép bérlési platform a Békés vármegyei régió számára. A digitalizált foglalási rendszer kiváltja a telefonos egyeztetést — online naptárral, valós idejű elérhetőség-kezeléssel.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294436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kellett?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310128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Nincs digitalizált regionális platform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Kran.hu, Gépbérlés.hu — csak országos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Teljes forráskód-kontroll a fejlesztőnél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46320" y="1444752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92040" y="20665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Gépek böngészése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4323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Képek, leírás, elérhetőség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31152" y="1444752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76872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76872" y="20665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Naptáras foglalás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76872" y="24323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Szabad/foglalt napok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3182112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3273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892040" y="38039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 profil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41696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Bérlések kezelése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31152" y="3182112"/>
            <a:ext cx="1920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76872" y="3273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976872" y="38039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felület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76872" y="41696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Gép- és bérléskezelés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8016"/>
            <a:ext cx="1920240" cy="292608"/>
          </a:xfrm>
          <a:prstGeom prst="rect">
            <a:avLst/>
          </a:prstGeom>
          <a:solidFill>
            <a:srgbClr val="F4A800"/>
          </a:solidFill>
          <a:ln w="12700">
            <a:solidFill>
              <a:srgbClr val="F4A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TECHNOLÓGIA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Technológiai stack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8412480" cy="0"/>
          </a:xfrm>
          <a:prstGeom prst="line">
            <a:avLst/>
          </a:prstGeom>
          <a:noFill/>
          <a:ln w="15240">
            <a:solidFill>
              <a:srgbClr val="F4A8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26464"/>
            <a:ext cx="2615184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26464"/>
            <a:ext cx="2615184" cy="438912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2646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0352" y="1993392"/>
            <a:ext cx="73152" cy="274320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197510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" y="2523744"/>
            <a:ext cx="73152" cy="274320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250545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3054096"/>
            <a:ext cx="73152" cy="274320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30358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6/7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" y="3584448"/>
            <a:ext cx="73152" cy="274320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56616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1.6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" y="4114800"/>
            <a:ext cx="73152" cy="274320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409651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1426464"/>
            <a:ext cx="2615184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426464"/>
            <a:ext cx="2615184" cy="438912"/>
          </a:xfrm>
          <a:prstGeom prst="rect">
            <a:avLst/>
          </a:prstGeom>
          <a:solidFill>
            <a:srgbClr val="154F7C"/>
          </a:solidFill>
          <a:ln w="12700">
            <a:solidFill>
              <a:srgbClr val="154F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142646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364992" y="1993392"/>
            <a:ext cx="73152" cy="274320"/>
          </a:xfrm>
          <a:prstGeom prst="rect">
            <a:avLst/>
          </a:prstGeom>
          <a:solidFill>
            <a:srgbClr val="154F7C"/>
          </a:solidFill>
          <a:ln w="12700">
            <a:solidFill>
              <a:srgbClr val="154F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11296" y="197510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≥ 18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64992" y="2523744"/>
            <a:ext cx="73152" cy="274320"/>
          </a:xfrm>
          <a:prstGeom prst="rect">
            <a:avLst/>
          </a:prstGeom>
          <a:solidFill>
            <a:srgbClr val="154F7C"/>
          </a:solidFill>
          <a:ln w="12700">
            <a:solidFill>
              <a:srgbClr val="154F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11296" y="250545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4.18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64992" y="3054096"/>
            <a:ext cx="73152" cy="274320"/>
          </a:xfrm>
          <a:prstGeom prst="rect">
            <a:avLst/>
          </a:prstGeom>
          <a:solidFill>
            <a:srgbClr val="154F7C"/>
          </a:solidFill>
          <a:ln w="12700">
            <a:solidFill>
              <a:srgbClr val="154F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11296" y="30358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64992" y="3584448"/>
            <a:ext cx="73152" cy="274320"/>
          </a:xfrm>
          <a:prstGeom prst="rect">
            <a:avLst/>
          </a:prstGeom>
          <a:solidFill>
            <a:srgbClr val="154F7C"/>
          </a:solidFill>
          <a:ln w="12700">
            <a:solidFill>
              <a:srgbClr val="154F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11296" y="356616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jsonwebtoken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64992" y="4114800"/>
            <a:ext cx="73152" cy="274320"/>
          </a:xfrm>
          <a:prstGeom prst="rect">
            <a:avLst/>
          </a:prstGeom>
          <a:solidFill>
            <a:srgbClr val="154F7C"/>
          </a:solidFill>
          <a:ln w="12700">
            <a:solidFill>
              <a:srgbClr val="154F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11296" y="409651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35040" y="1426464"/>
            <a:ext cx="2615184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1426464"/>
            <a:ext cx="2615184" cy="438912"/>
          </a:xfrm>
          <a:prstGeom prst="rect">
            <a:avLst/>
          </a:prstGeom>
          <a:solidFill>
            <a:srgbClr val="1A6B45"/>
          </a:solidFill>
          <a:ln w="12700">
            <a:solidFill>
              <a:srgbClr val="1A6B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142646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 &amp; Teszt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199632" y="1993392"/>
            <a:ext cx="73152" cy="274320"/>
          </a:xfrm>
          <a:prstGeom prst="rect">
            <a:avLst/>
          </a:prstGeom>
          <a:solidFill>
            <a:srgbClr val="1A6B45"/>
          </a:solidFill>
          <a:ln w="12700">
            <a:solidFill>
              <a:srgbClr val="1A6B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5936" y="197510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5.1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99632" y="2523744"/>
            <a:ext cx="73152" cy="274320"/>
          </a:xfrm>
          <a:prstGeom prst="rect">
            <a:avLst/>
          </a:prstGeom>
          <a:solidFill>
            <a:srgbClr val="1A6B45"/>
          </a:solidFill>
          <a:ln w="12700">
            <a:solidFill>
              <a:srgbClr val="1A6B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5936" y="250545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4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99632" y="3054096"/>
            <a:ext cx="73152" cy="274320"/>
          </a:xfrm>
          <a:prstGeom prst="rect">
            <a:avLst/>
          </a:prstGeom>
          <a:solidFill>
            <a:srgbClr val="1A6B45"/>
          </a:solidFill>
          <a:ln w="12700">
            <a:solidFill>
              <a:srgbClr val="1A6B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45936" y="30358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15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99632" y="3584448"/>
            <a:ext cx="73152" cy="274320"/>
          </a:xfrm>
          <a:prstGeom prst="rect">
            <a:avLst/>
          </a:prstGeom>
          <a:solidFill>
            <a:srgbClr val="1A6B45"/>
          </a:solidFill>
          <a:ln w="12700">
            <a:solidFill>
              <a:srgbClr val="1A6B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45936" y="356616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@testing-library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199632" y="4114800"/>
            <a:ext cx="73152" cy="274320"/>
          </a:xfrm>
          <a:prstGeom prst="rect">
            <a:avLst/>
          </a:prstGeom>
          <a:solidFill>
            <a:srgbClr val="1A6B45"/>
          </a:solidFill>
          <a:ln w="12700">
            <a:solidFill>
              <a:srgbClr val="1A6B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45936" y="409651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65760" y="48006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Minden technológia nyílt forráskódú és ingyenesen elérhető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8016"/>
            <a:ext cx="1920240" cy="292608"/>
          </a:xfrm>
          <a:prstGeom prst="rect">
            <a:avLst/>
          </a:prstGeom>
          <a:solidFill>
            <a:srgbClr val="F4A800"/>
          </a:solidFill>
          <a:ln w="12700">
            <a:solidFill>
              <a:srgbClr val="F4A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ADATSZERKEZET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 — 3 SQLite tábla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8412480" cy="0"/>
          </a:xfrm>
          <a:prstGeom prst="line">
            <a:avLst/>
          </a:prstGeom>
          <a:noFill/>
          <a:ln w="15240">
            <a:solidFill>
              <a:srgbClr val="F4A8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17320"/>
            <a:ext cx="2615184" cy="3456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17320"/>
            <a:ext cx="2615184" cy="438912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4173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1865376"/>
            <a:ext cx="2615184" cy="384048"/>
          </a:xfrm>
          <a:prstGeom prst="rect">
            <a:avLst/>
          </a:prstGeom>
          <a:solidFill>
            <a:srgbClr val="F5F9FC"/>
          </a:solidFill>
          <a:ln w="3810">
            <a:solidFill>
              <a:srgbClr val="D0E8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9019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(PK, AUTO)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249424"/>
            <a:ext cx="2615184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2860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633472"/>
            <a:ext cx="2615184" cy="384048"/>
          </a:xfrm>
          <a:prstGeom prst="rect">
            <a:avLst/>
          </a:prstGeom>
          <a:solidFill>
            <a:srgbClr val="F5F9FC"/>
          </a:solidFill>
          <a:ln w="3810">
            <a:solidFill>
              <a:srgbClr val="D0E8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67004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(UNIQUE)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2615184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05409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 (hash)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401568"/>
            <a:ext cx="2615184" cy="384048"/>
          </a:xfrm>
          <a:prstGeom prst="rect">
            <a:avLst/>
          </a:prstGeom>
          <a:solidFill>
            <a:srgbClr val="F5F9FC"/>
          </a:solidFill>
          <a:ln w="3810">
            <a:solidFill>
              <a:srgbClr val="D0E8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43814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785616"/>
            <a:ext cx="2615184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8221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0" y="1417320"/>
            <a:ext cx="2615184" cy="3456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1417320"/>
            <a:ext cx="2615184" cy="438912"/>
          </a:xfrm>
          <a:prstGeom prst="rect">
            <a:avLst/>
          </a:prstGeom>
          <a:solidFill>
            <a:srgbClr val="154F7C"/>
          </a:solidFill>
          <a:ln w="12700">
            <a:solidFill>
              <a:srgbClr val="154F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14173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200400" y="1865376"/>
            <a:ext cx="2615184" cy="384048"/>
          </a:xfrm>
          <a:prstGeom prst="rect">
            <a:avLst/>
          </a:prstGeom>
          <a:solidFill>
            <a:srgbClr val="F5F9FC"/>
          </a:solidFill>
          <a:ln w="3810">
            <a:solidFill>
              <a:srgbClr val="D0E8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19019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(PK, AUTO)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0" y="2249424"/>
            <a:ext cx="2615184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22860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0" y="2633472"/>
            <a:ext cx="2615184" cy="384048"/>
          </a:xfrm>
          <a:prstGeom prst="rect">
            <a:avLst/>
          </a:prstGeom>
          <a:solidFill>
            <a:srgbClr val="F5F9FC"/>
          </a:solidFill>
          <a:ln w="3810">
            <a:solidFill>
              <a:srgbClr val="D0E8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267004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0" y="3017520"/>
            <a:ext cx="2615184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305409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0" y="3401568"/>
            <a:ext cx="2615184" cy="384048"/>
          </a:xfrm>
          <a:prstGeom prst="rect">
            <a:avLst/>
          </a:prstGeom>
          <a:solidFill>
            <a:srgbClr val="F5F9FC"/>
          </a:solidFill>
          <a:ln w="3810">
            <a:solidFill>
              <a:srgbClr val="D0E8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64992" y="343814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0" y="3785616"/>
            <a:ext cx="2615184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4992" y="38221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35040" y="1417320"/>
            <a:ext cx="2615184" cy="3456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35040" y="1417320"/>
            <a:ext cx="2615184" cy="438912"/>
          </a:xfrm>
          <a:prstGeom prst="rect">
            <a:avLst/>
          </a:prstGeom>
          <a:solidFill>
            <a:srgbClr val="1A6B45"/>
          </a:solidFill>
          <a:ln w="12700">
            <a:solidFill>
              <a:srgbClr val="1A6B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08192" y="14173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rentals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035040" y="1865376"/>
            <a:ext cx="2615184" cy="384048"/>
          </a:xfrm>
          <a:prstGeom prst="rect">
            <a:avLst/>
          </a:prstGeom>
          <a:solidFill>
            <a:srgbClr val="F5F9FC"/>
          </a:solidFill>
          <a:ln w="3810">
            <a:solidFill>
              <a:srgbClr val="D0E8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99632" y="19019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(PK, AUTO)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035040" y="2249424"/>
            <a:ext cx="2615184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99632" y="22860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 (FK→users)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035040" y="2633472"/>
            <a:ext cx="2615184" cy="384048"/>
          </a:xfrm>
          <a:prstGeom prst="rect">
            <a:avLst/>
          </a:prstGeom>
          <a:solidFill>
            <a:srgbClr val="F5F9FC"/>
          </a:solidFill>
          <a:ln w="3810">
            <a:solidFill>
              <a:srgbClr val="D0E8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99632" y="267004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equipment_id  (FK→eq.)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035040" y="3017520"/>
            <a:ext cx="2615184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9632" y="305409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035040" y="3401568"/>
            <a:ext cx="2615184" cy="384048"/>
          </a:xfrm>
          <a:prstGeom prst="rect">
            <a:avLst/>
          </a:prstGeom>
          <a:solidFill>
            <a:srgbClr val="F5F9FC"/>
          </a:solidFill>
          <a:ln w="3810">
            <a:solidFill>
              <a:srgbClr val="D0E8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9632" y="343814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end_date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035040" y="3785616"/>
            <a:ext cx="2615184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99632" y="38221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/ notes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990088" y="3108960"/>
            <a:ext cx="237744" cy="0"/>
          </a:xfrm>
          <a:prstGeom prst="line">
            <a:avLst/>
          </a:prstGeom>
          <a:noFill/>
          <a:ln w="19050">
            <a:solidFill>
              <a:srgbClr val="F4A8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44368" y="289864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824728" y="3108960"/>
            <a:ext cx="237744" cy="0"/>
          </a:xfrm>
          <a:prstGeom prst="line">
            <a:avLst/>
          </a:prstGeom>
          <a:noFill/>
          <a:ln w="19050">
            <a:solidFill>
              <a:srgbClr val="F4A8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79008" y="289864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8016"/>
            <a:ext cx="1920240" cy="292608"/>
          </a:xfrm>
          <a:prstGeom prst="rect">
            <a:avLst/>
          </a:prstGeom>
          <a:solidFill>
            <a:srgbClr val="F4A800"/>
          </a:solidFill>
          <a:ln w="12700">
            <a:solidFill>
              <a:srgbClr val="F4A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ALGORITMUSOK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hitelesítési folyamat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8412480" cy="0"/>
          </a:xfrm>
          <a:prstGeom prst="line">
            <a:avLst/>
          </a:prstGeom>
          <a:noFill/>
          <a:ln w="15240">
            <a:solidFill>
              <a:srgbClr val="F4A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Hogyan működik?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256032" cy="256032"/>
          </a:xfrm>
          <a:prstGeom prst="ellipse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94944" y="18013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email + jelszó küldése a /api/login-ra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304288"/>
            <a:ext cx="256032" cy="256032"/>
          </a:xfrm>
          <a:prstGeom prst="ellipse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04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" y="22768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bcrypt.compare() – hash ellenőrzés az adatbázisban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779776"/>
            <a:ext cx="256032" cy="256032"/>
          </a:xfrm>
          <a:prstGeom prst="ellipse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4944" y="27523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jwt.sign() – 24 órás token generálás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255264"/>
            <a:ext cx="256032" cy="256032"/>
          </a:xfrm>
          <a:prstGeom prst="ellipse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55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4944" y="3227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Kliens: token mentése localStorage-ba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730752"/>
            <a:ext cx="256032" cy="256032"/>
          </a:xfrm>
          <a:prstGeom prst="ellipse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30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4944" y="3703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kérés: Axios interceptor csatolja a tokent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256032" cy="256032"/>
          </a:xfrm>
          <a:prstGeom prst="ellipse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06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4944" y="41788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hiba → token törlés + átirányítás /login-ra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1389888"/>
            <a:ext cx="4160520" cy="3657600"/>
          </a:xfrm>
          <a:prstGeom prst="rect">
            <a:avLst/>
          </a:prstGeom>
          <a:solidFill>
            <a:srgbClr val="1E2A3A"/>
          </a:solidFill>
          <a:ln w="635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389888"/>
            <a:ext cx="4160520" cy="256032"/>
          </a:xfrm>
          <a:prstGeom prst="rect">
            <a:avLst/>
          </a:prstGeom>
          <a:solidFill>
            <a:srgbClr val="142030"/>
          </a:solidFill>
          <a:ln w="12700">
            <a:solidFill>
              <a:srgbClr val="14203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28032" y="1453896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1453896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30368" y="1453896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700784"/>
            <a:ext cx="388620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server.js — Auth middleware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authenticateToken = (req, res, next)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token = req.headers[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'authorization'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?.split(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)[1];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(!token)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res.status(401)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.json({ error: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'Token hiányzik'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jwt.verify(token, JWT_SECRET, (err, user)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(err)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res.status(403)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.json({ error: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'Érvénytelen token'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req.user = user;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App.jsx — Axios interceptor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axios.interceptors.response.use(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(res) =&gt; res,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(err)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(err.response?.status === 401)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localStorage.removeItem(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'token'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window.location.href =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'/login'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8016"/>
            <a:ext cx="1920240" cy="292608"/>
          </a:xfrm>
          <a:prstGeom prst="rect">
            <a:avLst/>
          </a:prstGeom>
          <a:solidFill>
            <a:srgbClr val="F4A800"/>
          </a:solidFill>
          <a:ln w="12700">
            <a:solidFill>
              <a:srgbClr val="F4A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ALGORITMUSOK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Bérlési ütközésvizsgálat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8412480" cy="0"/>
          </a:xfrm>
          <a:prstGeom prst="line">
            <a:avLst/>
          </a:prstGeom>
          <a:noFill/>
          <a:ln w="15240">
            <a:solidFill>
              <a:srgbClr val="F4A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intervallum-metszés logikája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időszak akkor ütközik, ha az egyik nem végződik a másik kezdete előtt. Ez a feltétel:  start_A &lt; end_B  ÉS  end_A &gt; start_B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4023360" cy="292608"/>
          </a:xfrm>
          <a:prstGeom prst="rect">
            <a:avLst/>
          </a:prstGeom>
          <a:solidFill>
            <a:srgbClr val="154F7C"/>
          </a:solidFill>
          <a:ln w="12700">
            <a:solidFill>
              <a:srgbClr val="154F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7432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Meglévő foglalás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463040" y="3163824"/>
            <a:ext cx="2926080" cy="292608"/>
          </a:xfrm>
          <a:prstGeom prst="rect">
            <a:avLst/>
          </a:prstGeom>
          <a:solidFill>
            <a:srgbClr val="F4A800"/>
          </a:solidFill>
          <a:ln w="12700">
            <a:solidFill>
              <a:srgbClr val="F4A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31638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 kérelem — ÜTKÖZIK!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621024"/>
            <a:ext cx="1005840" cy="292608"/>
          </a:xfrm>
          <a:prstGeom prst="rect">
            <a:avLst/>
          </a:prstGeom>
          <a:solidFill>
            <a:srgbClr val="1A6B45"/>
          </a:solidFill>
          <a:ln w="12700">
            <a:solidFill>
              <a:srgbClr val="1A6B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Szabad ✓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389888"/>
            <a:ext cx="4160520" cy="3657600"/>
          </a:xfrm>
          <a:prstGeom prst="rect">
            <a:avLst/>
          </a:prstGeom>
          <a:solidFill>
            <a:srgbClr val="1E2A3A"/>
          </a:solidFill>
          <a:ln w="635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389888"/>
            <a:ext cx="4160520" cy="256032"/>
          </a:xfrm>
          <a:prstGeom prst="rect">
            <a:avLst/>
          </a:prstGeom>
          <a:solidFill>
            <a:srgbClr val="142030"/>
          </a:solidFill>
          <a:ln w="12700">
            <a:solidFill>
              <a:srgbClr val="1420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28032" y="1453896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1453896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0368" y="1453896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700784"/>
            <a:ext cx="388620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database.js — ütközésvizsgálat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checkRentalConflict(equipId, start, end, excludeId)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Promise((resolve, reject)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 = `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SELECT id FROM rentals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WHERE equipment_id = 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 status IN (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'pending'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'active'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 start_date &lt; 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 end_date   &gt; 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${excludeId ?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'AND id != ?'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start_date &lt; kért_vége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end_date   &gt; kért_kezdete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params = excludeId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 [equipId, end, start, excludeId]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[equipId, end, start];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this.db.get(sql, params,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(err, row)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(err) reject(err);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resolve(row ||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8016"/>
            <a:ext cx="1920240" cy="292608"/>
          </a:xfrm>
          <a:prstGeom prst="rect">
            <a:avLst/>
          </a:prstGeom>
          <a:solidFill>
            <a:srgbClr val="F4A800"/>
          </a:solidFill>
          <a:ln w="12700">
            <a:solidFill>
              <a:srgbClr val="F4A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ALGORITMUSOK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Naptáras dátumkijelölő — EquipmentCard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8412480" cy="0"/>
          </a:xfrm>
          <a:prstGeom prst="line">
            <a:avLst/>
          </a:prstGeom>
          <a:noFill/>
          <a:ln w="15240">
            <a:solidFill>
              <a:srgbClr val="F4A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logika lépései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219456" cy="219456"/>
          </a:xfrm>
          <a:prstGeom prst="rect">
            <a:avLst/>
          </a:prstGeom>
          <a:solidFill>
            <a:srgbClr val="F4A800"/>
          </a:solidFill>
          <a:ln w="12700">
            <a:solidFill>
              <a:srgbClr val="F4A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10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1792224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Komponens betöltésekor lekéri a foglalt napokat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219456" cy="219456"/>
          </a:xfrm>
          <a:prstGeom prst="rect">
            <a:avLst/>
          </a:prstGeom>
          <a:solidFill>
            <a:srgbClr val="F4A800"/>
          </a:solidFill>
          <a:ln w="12700">
            <a:solidFill>
              <a:srgbClr val="F4A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86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58368" y="2267712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Naptár renderel: múlt/szabad/foglalt/kijelölt/tartomány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761488"/>
            <a:ext cx="219456" cy="219456"/>
          </a:xfrm>
          <a:prstGeom prst="rect">
            <a:avLst/>
          </a:prstGeom>
          <a:solidFill>
            <a:srgbClr val="F4A800"/>
          </a:solidFill>
          <a:ln w="12700">
            <a:solidFill>
              <a:srgbClr val="F4A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614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8368" y="2743200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1. kattintás = kezdő dátum (start)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236976"/>
            <a:ext cx="219456" cy="219456"/>
          </a:xfrm>
          <a:prstGeom prst="rect">
            <a:avLst/>
          </a:prstGeom>
          <a:solidFill>
            <a:srgbClr val="F4A800"/>
          </a:solidFill>
          <a:ln w="12700">
            <a:solidFill>
              <a:srgbClr val="F4A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36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" y="3218688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2. kattintás = záró dátum (end) — ha start &lt; end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712464"/>
            <a:ext cx="219456" cy="219456"/>
          </a:xfrm>
          <a:prstGeom prst="rect">
            <a:avLst/>
          </a:prstGeom>
          <a:solidFill>
            <a:srgbClr val="F4A800"/>
          </a:solidFill>
          <a:ln w="12700">
            <a:solidFill>
              <a:srgbClr val="F4A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124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8368" y="3694176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Tartomány validáció: van-e foglalt nap belül?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187952"/>
            <a:ext cx="219456" cy="219456"/>
          </a:xfrm>
          <a:prstGeom prst="rect">
            <a:avLst/>
          </a:prstGeom>
          <a:solidFill>
            <a:srgbClr val="F4A800"/>
          </a:solidFill>
          <a:ln w="12700">
            <a:solidFill>
              <a:srgbClr val="F4A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87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368" y="4169664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Sikeres küldés után újratölti a foglalt napokat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1389888"/>
            <a:ext cx="4160520" cy="3657600"/>
          </a:xfrm>
          <a:prstGeom prst="rect">
            <a:avLst/>
          </a:prstGeom>
          <a:solidFill>
            <a:srgbClr val="1E2A3A"/>
          </a:solidFill>
          <a:ln w="635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389888"/>
            <a:ext cx="4160520" cy="256032"/>
          </a:xfrm>
          <a:prstGeom prst="rect">
            <a:avLst/>
          </a:prstGeom>
          <a:solidFill>
            <a:srgbClr val="142030"/>
          </a:solidFill>
          <a:ln w="12700">
            <a:solidFill>
              <a:srgbClr val="14203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28032" y="1453896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1453896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30368" y="1453896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700784"/>
            <a:ext cx="388620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EquipmentCard.jsx — kattintás logika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handleDayClick = (d)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(isPast(d) || isBooked(d))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(!startDate || (startDate &amp;&amp; endDate))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Új kijelölés kezdése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setStartDate(d);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setEndDate(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(d &lt;= startDate)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setStartDate(d);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Tartomány ellenőrzés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 =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Date(startDate);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(cur &lt;= d)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(isBooked(cur))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setError(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'Foglalt nap a tartományban'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cur.setDate(cur.getDate() + 1);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setEndDate(d);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8016"/>
            <a:ext cx="1920240" cy="292608"/>
          </a:xfrm>
          <a:prstGeom prst="rect">
            <a:avLst/>
          </a:prstGeom>
          <a:solidFill>
            <a:srgbClr val="F4A800"/>
          </a:solidFill>
          <a:ln w="12700">
            <a:solidFill>
              <a:srgbClr val="F4A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ALGORITMUSOK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Képfeltöltés  ·  Jelszócsere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8412480" cy="0"/>
          </a:xfrm>
          <a:prstGeom prst="line">
            <a:avLst/>
          </a:prstGeom>
          <a:noFill/>
          <a:ln w="15240">
            <a:solidFill>
              <a:srgbClr val="F4A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képfeltöltés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Egyedi fájlnév: timestamp + random szám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MIME-típus ellenőrzés: JPG/PNG/GIF/WebP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fájlméret: 5 MB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Módosítás: régi kép auto-törlése fájlrendszerről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Törlés: kapcsolódó kép is törlődik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3291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Jelszócsere (atomic)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36576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Jelenlegi jelszó ellenőrzése: bcrypt.compare()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Új jelszó hash-elése: 10 salt rounds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Atomic DB update — ha bármi hibázik, nem 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389888"/>
            <a:ext cx="4160520" cy="3657600"/>
          </a:xfrm>
          <a:prstGeom prst="rect">
            <a:avLst/>
          </a:prstGeom>
          <a:solidFill>
            <a:srgbClr val="1E2A3A"/>
          </a:solidFill>
          <a:ln w="6350">
            <a:solidFill>
              <a:srgbClr val="2A3F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89888"/>
            <a:ext cx="4160520" cy="256032"/>
          </a:xfrm>
          <a:prstGeom prst="rect">
            <a:avLst/>
          </a:prstGeom>
          <a:solidFill>
            <a:srgbClr val="142030"/>
          </a:solidFill>
          <a:ln w="12700">
            <a:solidFill>
              <a:srgbClr val="142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8032" y="1453896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1453896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30368" y="1453896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700784"/>
            <a:ext cx="388620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server.js — Multer konfig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storage = multer.diskStorage({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destination: (req, file, cb)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cb(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uploadsDir);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filename: (req, file, cb)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 = Date.now() +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 Math.round(Math.random() * 1e9);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cb(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u + path.extname(file.originalname));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server.js — Jelszócsere (PUT /api/me)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(new_password)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valid =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bcrypt.compare(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old_password, user.password);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(!valid)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res.status(401)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.json({ error: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'Hibás jelenlegi jelszó'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updates.password =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bcrypt.hash(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new_password, 10);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db.updateUser(req.user.id, updates);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8016"/>
            <a:ext cx="1920240" cy="292608"/>
          </a:xfrm>
          <a:prstGeom prst="rect">
            <a:avLst/>
          </a:prstGeom>
          <a:solidFill>
            <a:srgbClr val="F4A800"/>
          </a:solidFill>
          <a:ln w="12700">
            <a:solidFill>
              <a:srgbClr val="F4A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TESZTELÉS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Tesztdokumentáció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8412480" cy="0"/>
          </a:xfrm>
          <a:prstGeom prst="line">
            <a:avLst/>
          </a:prstGeom>
          <a:noFill/>
          <a:ln w="15240">
            <a:solidFill>
              <a:srgbClr val="F4A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Tesztkörnyezetek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4023360" cy="187452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54864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B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Böngésző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B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B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Windows 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Chrome 124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Windows 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Firefox 125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Android 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Chrome Mobile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iOS 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Safari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66344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Hibakezelési tesztesetek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663440" y="178308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Rövid jelszó regisztrációnál → HTTP 400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Duplikált email → HTTP 400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Rossz bejelentkezési adatok → HTTP 401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nélküli védett endpoint → HTTP 401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Ütköző bérlési időszak → HTTP 409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≤ Start dátum → HTTP 400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MB feletti kép → HTTP 400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jogon admin oldal → Redirect /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Üres gép lista → Empty state megjelenik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3767328"/>
            <a:ext cx="8412480" cy="868680"/>
          </a:xfrm>
          <a:prstGeom prst="rect">
            <a:avLst/>
          </a:prstGeom>
          <a:solidFill>
            <a:srgbClr val="E8F4FD"/>
          </a:solidFill>
          <a:ln w="6350">
            <a:solidFill>
              <a:srgbClr val="1E7DB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02920" y="3813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Demo belépési adatok: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 admin@nehezgep.hu  /  admin123          Felhasználó:  teszt@nehezgep.hu  /  teszt123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DBB"/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8016"/>
            <a:ext cx="1920240" cy="292608"/>
          </a:xfrm>
          <a:prstGeom prst="rect">
            <a:avLst/>
          </a:prstGeom>
          <a:solidFill>
            <a:srgbClr val="F4A800"/>
          </a:solidFill>
          <a:ln w="12700">
            <a:solidFill>
              <a:srgbClr val="F4A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JÖVŐ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Fejlesztési lehetőségek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8412480" cy="0"/>
          </a:xfrm>
          <a:prstGeom prst="line">
            <a:avLst/>
          </a:prstGeom>
          <a:noFill/>
          <a:ln w="15240">
            <a:solidFill>
              <a:srgbClr val="F4A8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44752"/>
            <a:ext cx="2615184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53619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03911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értesítések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414016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— státuszváltáskor auto-email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444752"/>
            <a:ext cx="2615184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153619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91840" y="203911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fizetés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91840" y="2414016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/ Barion API integráció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444752"/>
            <a:ext cx="2615184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0760" y="153619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203911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Árazási modul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26480" y="2414016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 díj, automatikus számítás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182112"/>
            <a:ext cx="2615184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27355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377647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Értékelési rendszer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151376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Bérlés után gép értékelése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3182112"/>
            <a:ext cx="2615184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46120" y="327355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291840" y="377647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Keresés &amp; szűrés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91840" y="4151376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Kategória, ár, elérhetőség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3182112"/>
            <a:ext cx="2615184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80760" y="327355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126480" y="377647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migráció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26480" y="4151376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PostgreSQL nagy forgalomhoz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54F7C">
              <a:alpha val="35000"/>
            </a:srgbClr>
          </a:solidFill>
          <a:ln w="12700">
            <a:solidFill>
              <a:srgbClr val="154F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E7DBB">
              <a:alpha val="28000"/>
            </a:srgbClr>
          </a:solidFill>
          <a:ln w="12700">
            <a:solidFill>
              <a:srgbClr val="1E7D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0"/>
            <a:ext cx="118872" cy="2011680"/>
          </a:xfrm>
          <a:prstGeom prst="rect">
            <a:avLst/>
          </a:prstGeom>
          <a:solidFill>
            <a:srgbClr val="F4A800"/>
          </a:solidFill>
          <a:ln w="12700">
            <a:solidFill>
              <a:srgbClr val="F4A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Köszönöm a figyelmet!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2304288"/>
            <a:ext cx="3474720" cy="0"/>
          </a:xfrm>
          <a:prstGeom prst="line">
            <a:avLst/>
          </a:prstGeom>
          <a:noFill/>
          <a:ln w="19050">
            <a:solidFill>
              <a:srgbClr val="F4A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505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NehézGép Bérlés — Webalkalmazás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info@nehezgep.hu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+36 20 448 0300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5516 Körösladány, Dózsa György út 81.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060F1D"/>
          </a:solidFill>
          <a:ln w="12700">
            <a:solidFill>
              <a:srgbClr val="060F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59943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adatbázis tábla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4681728"/>
            <a:ext cx="0" cy="329184"/>
          </a:xfrm>
          <a:prstGeom prst="line">
            <a:avLst/>
          </a:prstGeom>
          <a:noFill/>
          <a:ln w="6350">
            <a:solidFill>
              <a:srgbClr val="1E7D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459943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algoritmus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4681728"/>
            <a:ext cx="0" cy="329184"/>
          </a:xfrm>
          <a:prstGeom prst="line">
            <a:avLst/>
          </a:prstGeom>
          <a:noFill/>
          <a:ln w="6350">
            <a:solidFill>
              <a:srgbClr val="1E7D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459943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teszteset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4681728"/>
            <a:ext cx="0" cy="329184"/>
          </a:xfrm>
          <a:prstGeom prst="line">
            <a:avLst/>
          </a:prstGeom>
          <a:noFill/>
          <a:ln w="6350">
            <a:solidFill>
              <a:srgbClr val="1E7D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459943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Node.js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NehézGép Bérlés — Projekt bemutató</dc:title>
  <dc:subject>PptxGenJS Presentation</dc:subject>
  <dc:creator>PptxGenJS</dc:creator>
  <cp:lastModifiedBy>PptxGenJS</cp:lastModifiedBy>
  <cp:revision>1</cp:revision>
  <dcterms:created xsi:type="dcterms:W3CDTF">2026-04-23T07:23:47Z</dcterms:created>
  <dcterms:modified xsi:type="dcterms:W3CDTF">2026-04-23T07:23:47Z</dcterms:modified>
</cp:coreProperties>
</file>